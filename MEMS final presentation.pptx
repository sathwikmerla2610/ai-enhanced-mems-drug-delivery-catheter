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5"/>
  </p:normalViewPr>
  <p:slideViewPr>
    <p:cSldViewPr snapToGrid="0">
      <p:cViewPr varScale="1">
        <p:scale>
          <a:sx n="93" d="100"/>
          <a:sy n="93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3BBE7-C15B-E342-9DDC-DE5A2591389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961E2-592C-9446-BE29-E6C93CB6C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7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961E2-592C-9446-BE29-E6C93CB6C2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16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C961E2-592C-9446-BE29-E6C93CB6C2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4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0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9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94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6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38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0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956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151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1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030459D-2D2F-B049-A8D2-BEC7E01F48F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5F89EFB-D065-6E4C-9607-3135E95A2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3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E051AA-0631-4833-B52C-BE76B9D3A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29316-8F5B-4EA1-9581-1F1152944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1D909-A215-E410-AA19-082C390A4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49" y="1348844"/>
            <a:ext cx="5716338" cy="3042706"/>
          </a:xfrm>
        </p:spPr>
        <p:txBody>
          <a:bodyPr>
            <a:normAutofit/>
          </a:bodyPr>
          <a:lstStyle/>
          <a:p>
            <a: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EECE 7244 Microelectromechanical Systems</a:t>
            </a:r>
            <a:b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AI-Enhanced MEMS Drug Delivery Catheter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81BF2-02D0-9D2B-908B-7DA5DD9AE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3786" y="4682062"/>
            <a:ext cx="5355264" cy="9509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SATHWIK CHOWDARY MERLA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TIRTH PATEL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YASHWANTH RAGHAVENDRA MUPPANEN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1D7A6-5D57-426A-A17A-1FD70DF6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B486D1-EF0A-4077-9343-C9DB94C0F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646751-9C0C-4565-B6A3-3B1C50E6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BA2A92-1748-4444-9DE9-95CEFF28F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1" descr="A red and white logo&#10;&#10;Description automatically generated">
            <a:extLst>
              <a:ext uri="{FF2B5EF4-FFF2-40B4-BE49-F238E27FC236}">
                <a16:creationId xmlns:a16="http://schemas.microsoft.com/office/drawing/2014/main" id="{E3C313C7-650E-96DD-3CE3-2DE3E78B7FE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1170" y="1637730"/>
            <a:ext cx="3752067" cy="360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BC4EF0-B9FB-8855-2CA9-65230547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 Cancer Treatment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070D50-3F40-EA6E-FB85-12CD9225D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554480"/>
            <a:ext cx="4754880" cy="37490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Systemic Chemotherapy Limitations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systemic toxicity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whole body exposure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Dose-limiting side effects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nausea, hair loss, organ damage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tumor penetration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especially brain tumors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Drug resistance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cancer cells develop resistance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Non-specific delivery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affects healthy cells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F4D4E-39F1-9A35-1AFF-622E13114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554480"/>
            <a:ext cx="4754880" cy="3749040"/>
          </a:xfrm>
        </p:spPr>
        <p:txBody>
          <a:bodyPr>
            <a:normAutofit lnSpcReduction="10000"/>
          </a:bodyPr>
          <a:lstStyle/>
          <a:p>
            <a:pPr marL="0" indent="0"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MEMS Solution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Localized delivery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directly to tumor site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systemic exposure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minimize side effects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local concentrations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improved efficacy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dosing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temporal control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Refillable system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chronic therapy capable</a:t>
            </a:r>
          </a:p>
        </p:txBody>
      </p:sp>
    </p:spTree>
    <p:extLst>
      <p:ext uri="{BB962C8B-B14F-4D97-AF65-F5344CB8AC3E}">
        <p14:creationId xmlns:p14="http://schemas.microsoft.com/office/powerpoint/2010/main" val="3009061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60BE-AC3A-7D4E-D8A1-F220217EB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Architecture &amp; Components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FEAFDC-9AA7-18B0-F059-D7465D2CF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992752"/>
              </p:ext>
            </p:extLst>
          </p:nvPr>
        </p:nvGraphicFramePr>
        <p:xfrm>
          <a:off x="838200" y="1690688"/>
          <a:ext cx="10515600" cy="4384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954470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27376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27766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56921200"/>
                    </a:ext>
                  </a:extLst>
                </a:gridCol>
              </a:tblGrid>
              <a:tr h="4509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Specifications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2540947845"/>
                  </a:ext>
                </a:extLst>
              </a:tr>
              <a:tr h="57516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Bellows Actuator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Parylene C (10 </a:t>
                      </a:r>
                      <a:r>
                        <a:rPr lang="el-G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convolutions, 50-100 </a:t>
                      </a:r>
                      <a:r>
                        <a:rPr lang="el-G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volume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Electrolysis-driven expansion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2483244553"/>
                  </a:ext>
                </a:extLst>
              </a:tr>
              <a:tr h="57711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Electrodes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Pt/Ti bilayer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200/50 nm, interdigitated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electrolysis catalyst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4203988457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Membrane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Parylene C (5 </a:t>
                      </a:r>
                      <a:r>
                        <a:rPr lang="el-G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mm² area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Electrode substrate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679834644"/>
                  </a:ext>
                </a:extLst>
              </a:tr>
              <a:tr h="45092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Reservoir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Silicone rubber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100-300 μ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capacity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Drug storage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16612611"/>
                  </a:ext>
                </a:extLst>
              </a:tr>
              <a:tr h="67178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Valve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MEMS/Spring-loaded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&lt;10 kPa cracking pressure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 backflow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1479236955"/>
                  </a:ext>
                </a:extLst>
              </a:tr>
              <a:tr h="67178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Catheter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Silicone tubing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 0.3-0.5 mm, 10-30 mm length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Drug delivery to tumor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4194702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35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DD95-7F21-1D51-6B30-88437B0E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Fabrication Process (Electrode Base)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BB55E-F0EA-B493-C52B-D98B81553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402080"/>
            <a:ext cx="4754880" cy="445008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Silicon Wafer Preparation</a:t>
            </a:r>
          </a:p>
          <a:p>
            <a:pPr algn="l">
              <a:lnSpc>
                <a:spcPct val="12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RCA standard clean (NH₄OH/H₂O₂/H₂O), dehydration bake at 150°C for 30 min</a:t>
            </a:r>
          </a:p>
          <a:p>
            <a:pPr marL="0" indent="0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Sacrificial Layer Deposition (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Copper (50-100 nm))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E-beam evaporation, base pressure 1×10⁻⁶ Torr</a:t>
            </a: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Parylene C Membrane Deposition (5 </a:t>
            </a:r>
            <a:r>
              <a:rPr lang="el-GR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Equipment: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Parylene CVD coater</a:t>
            </a: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Electrode Metal Deposition </a:t>
            </a:r>
          </a:p>
          <a:p>
            <a:pPr marL="0" indent="0" algn="l">
              <a:lnSpc>
                <a:spcPct val="120000"/>
              </a:lnSpc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(Bilayer Structure: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Ti (50 nm) / Pt (200 nm))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DC sputtering (Ti first, then Pt)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D4E393-84DE-E32F-B26E-1E2C588E3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402080"/>
            <a:ext cx="4754880" cy="445008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Photolithography &amp; Liftoff</a:t>
            </a:r>
          </a:p>
          <a:p>
            <a:pPr algn="l">
              <a:spcAft>
                <a:spcPts val="900"/>
              </a:spcAft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Dual-layer liftoff </a:t>
            </a:r>
          </a:p>
          <a:p>
            <a:pPr algn="l">
              <a:spcAft>
                <a:spcPts val="900"/>
              </a:spcAft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Interdigitated electrode design</a:t>
            </a:r>
          </a:p>
          <a:p>
            <a:pPr algn="l">
              <a:spcAft>
                <a:spcPts val="900"/>
              </a:spcAft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Liftoff: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Remover PG at 80°C, 2-4 hours</a:t>
            </a:r>
          </a:p>
          <a:p>
            <a:pPr marL="0" indent="0" algn="l"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Transfer to PEEK Substrate</a:t>
            </a:r>
          </a:p>
          <a:p>
            <a:pPr algn="l"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Bond Parylene membrane to PEEK using medical adhesive</a:t>
            </a:r>
          </a:p>
          <a:p>
            <a:pPr algn="l"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 from Si by etching Cu sacrificial layer</a:t>
            </a:r>
          </a:p>
        </p:txBody>
      </p:sp>
    </p:spTree>
    <p:extLst>
      <p:ext uri="{BB962C8B-B14F-4D97-AF65-F5344CB8AC3E}">
        <p14:creationId xmlns:p14="http://schemas.microsoft.com/office/powerpoint/2010/main" val="50707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409F43-6F08-C734-2069-6DB1AF9E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Fabrication Process - Parylene Bellows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7BCB38-574A-AB03-60F0-465F8F4BE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00480"/>
            <a:ext cx="5181600" cy="5192395"/>
          </a:xfrm>
        </p:spPr>
        <p:txBody>
          <a:bodyPr>
            <a:noAutofit/>
          </a:bodyPr>
          <a:lstStyle/>
          <a:p>
            <a:pPr marL="0" indent="0" algn="l">
              <a:lnSpc>
                <a:spcPct val="220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Master Mold Fabrication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CNC machining or 3D printing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Bellows profile with 2 convolutions</a:t>
            </a:r>
          </a:p>
          <a:p>
            <a:pPr algn="l">
              <a:lnSpc>
                <a:spcPct val="2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Diameter: 5-8 mm &amp;Height: 3-5 mm (relaxed state)</a:t>
            </a:r>
          </a:p>
          <a:p>
            <a:pPr marL="0" indent="0" algn="l">
              <a:lnSpc>
                <a:spcPct val="220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Silicone Rubber Mold Casting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PDMS or addition-cure silicone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over master, degas, cure at 60°C for 4 hours, Demold to obtain negative mold cavity</a:t>
            </a:r>
          </a:p>
          <a:p>
            <a:pPr marL="0" indent="0" algn="l">
              <a:lnSpc>
                <a:spcPct val="220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PEG Bellows Form Creation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Polyethylene glycol (MW 6000-10,000 Da)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 PEG to 70-80°C until melted, Pour into silicone mold, Cool slowly to room temperature, Demold solid PEG bellows form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CDBA30-79D8-74A3-FEAF-C128134F7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00478"/>
            <a:ext cx="5181600" cy="5192395"/>
          </a:xfrm>
        </p:spPr>
        <p:txBody>
          <a:bodyPr>
            <a:noAutofit/>
          </a:bodyPr>
          <a:lstStyle/>
          <a:p>
            <a:pPr marL="0" indent="0" algn="l">
              <a:lnSpc>
                <a:spcPct val="220000"/>
              </a:lnSpc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Parylene C Deposition on PEG (10 </a:t>
            </a:r>
            <a:r>
              <a:rPr lang="el-GR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Parylene CVD coater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Same as membrane, but longer time</a:t>
            </a:r>
          </a:p>
          <a:p>
            <a:pPr marL="0" indent="0" algn="l">
              <a:lnSpc>
                <a:spcPct val="220000"/>
              </a:lnSpc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PEG Dissolution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Immerse Parylene-coated PEG in hot DI water (85°C)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PEG dissolves completely, leaving hollow Parylene bellows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water changes, 30-60 min total</a:t>
            </a:r>
          </a:p>
          <a:p>
            <a:pPr marL="0" indent="0" algn="l">
              <a:lnSpc>
                <a:spcPct val="220000"/>
              </a:lnSpc>
              <a:spcAft>
                <a:spcPts val="75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Bellows Filling with DI Water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Inject degassed DI water (50-100 </a:t>
            </a:r>
            <a:r>
              <a:rPr lang="el-GR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L) using fine needle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all air bubbles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Seal fill port with UV-curable adhesive</a:t>
            </a:r>
          </a:p>
        </p:txBody>
      </p:sp>
    </p:spTree>
    <p:extLst>
      <p:ext uri="{BB962C8B-B14F-4D97-AF65-F5344CB8AC3E}">
        <p14:creationId xmlns:p14="http://schemas.microsoft.com/office/powerpoint/2010/main" val="28383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0FA3-02A9-8C1C-2C01-1086E9B11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B19-38C6-F053-B4D5-D7E00D430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432560"/>
            <a:ext cx="4754880" cy="486664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Adhesive Film Application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</a:t>
            </a: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Double-sided PSA (3M 9502)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Pattern:</a:t>
            </a: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Ring (OD 8mm, ID 4mm)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to Parylene membrane over electrodes</a:t>
            </a:r>
          </a:p>
          <a:p>
            <a:pPr marL="0" indent="0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Bellows-to-Base Bonding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 filled bellows to electrode base using alignment fixture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uniform pressure: 50 kPa for 30 seconds</a:t>
            </a:r>
          </a:p>
          <a:p>
            <a:pPr>
              <a:lnSpc>
                <a:spcPct val="220000"/>
              </a:lnSpc>
              <a:spcBef>
                <a:spcPts val="0"/>
              </a:spcBef>
            </a:pPr>
            <a:r>
              <a:rPr lang="en-US" sz="1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 at 60°C for 30 minutes</a:t>
            </a:r>
          </a:p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Epoxy Reinforcement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</a:t>
            </a:r>
            <a:r>
              <a:rPr lang="en-US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EPO-TEK 301 biocompatible epoxy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thin bead around perimeter seal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 at 60°C for 2-4 hours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4CC17-A1FA-401C-A570-A64BFBC2A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432560"/>
            <a:ext cx="4754880" cy="4866640"/>
          </a:xfrm>
        </p:spPr>
        <p:txBody>
          <a:bodyPr>
            <a:noAutofit/>
          </a:bodyPr>
          <a:lstStyle/>
          <a:p>
            <a:pPr marL="0" indent="0"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Electrical Connections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 30-36 AWG wires to contact pads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conductive epoxy (EPO-TEK H20E)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 at 150°C for 30 minutes</a:t>
            </a:r>
          </a:p>
          <a:p>
            <a:pPr marL="0" indent="0"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Reservoir Integration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Reservoir: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Cast medical silicone (</a:t>
            </a:r>
            <a:r>
              <a:rPr lang="en-US" sz="105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NuSil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MED-6015)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Volume: 100-300 </a:t>
            </a:r>
            <a:r>
              <a:rPr lang="el-GR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 with rounded contours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 actuator assembly into reservoir opening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Seal with PDMS, cure at 60°C for 1 hour</a:t>
            </a:r>
          </a:p>
          <a:p>
            <a:pPr marL="0" indent="0"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0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Valve &amp; Catheter Attachment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 check valve at reservoir outlet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Attach silicone catheter (ID 0.3-0.5 mm)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with medical adhesive</a:t>
            </a:r>
          </a:p>
          <a:p>
            <a:pPr algn="l">
              <a:lnSpc>
                <a:spcPct val="220000"/>
              </a:lnSpc>
              <a:spcBef>
                <a:spcPts val="0"/>
              </a:spcBef>
            </a:pPr>
            <a:r>
              <a:rPr lang="en-US" sz="10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Pressure test for leaks</a:t>
            </a:r>
          </a:p>
        </p:txBody>
      </p:sp>
    </p:spTree>
    <p:extLst>
      <p:ext uri="{BB962C8B-B14F-4D97-AF65-F5344CB8AC3E}">
        <p14:creationId xmlns:p14="http://schemas.microsoft.com/office/powerpoint/2010/main" val="313423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96B1-67F2-6D1B-9467-A2B21CC3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2875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- Layer Structure (Cross-Section View)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A diagram of a diagram&#10;&#10;Description automatically generated">
            <a:extLst>
              <a:ext uri="{FF2B5EF4-FFF2-40B4-BE49-F238E27FC236}">
                <a16:creationId xmlns:a16="http://schemas.microsoft.com/office/drawing/2014/main" id="{86C1A636-E10E-A303-9274-69B31DF724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29698" y="1723725"/>
            <a:ext cx="3590942" cy="4317201"/>
          </a:xfrm>
        </p:spPr>
      </p:pic>
      <p:pic>
        <p:nvPicPr>
          <p:cNvPr id="8" name="Content Placeholder 7" descr="A diagram of a structure&#10;&#10;Description automatically generated">
            <a:extLst>
              <a:ext uri="{FF2B5EF4-FFF2-40B4-BE49-F238E27FC236}">
                <a16:creationId xmlns:a16="http://schemas.microsoft.com/office/drawing/2014/main" id="{F121F790-12F1-A3A8-4DE8-8CACE1D598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884019" y="1736614"/>
            <a:ext cx="3590941" cy="4317200"/>
          </a:xfrm>
        </p:spPr>
      </p:pic>
    </p:spTree>
    <p:extLst>
      <p:ext uri="{BB962C8B-B14F-4D97-AF65-F5344CB8AC3E}">
        <p14:creationId xmlns:p14="http://schemas.microsoft.com/office/powerpoint/2010/main" val="85189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8911-4BE6-D0CB-059A-9C8065E7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- Layer Structure (Front View)</a:t>
            </a:r>
            <a:endParaRPr lang="en-US" dirty="0"/>
          </a:p>
        </p:txBody>
      </p:sp>
      <p:pic>
        <p:nvPicPr>
          <p:cNvPr id="6" name="Content Placeholder 5" descr="A diagram of a state&#10;&#10;Description automatically generated">
            <a:extLst>
              <a:ext uri="{FF2B5EF4-FFF2-40B4-BE49-F238E27FC236}">
                <a16:creationId xmlns:a16="http://schemas.microsoft.com/office/drawing/2014/main" id="{AB43939E-0768-2153-5762-8651C6A12E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6801" y="1767840"/>
            <a:ext cx="5029200" cy="3923172"/>
          </a:xfrm>
        </p:spPr>
      </p:pic>
      <p:pic>
        <p:nvPicPr>
          <p:cNvPr id="8" name="Content Placeholder 7" descr="A diagram of a diagram&#10;&#10;Description automatically generated">
            <a:extLst>
              <a:ext uri="{FF2B5EF4-FFF2-40B4-BE49-F238E27FC236}">
                <a16:creationId xmlns:a16="http://schemas.microsoft.com/office/drawing/2014/main" id="{1AC08CA6-7446-1843-52CD-86630D910B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2240" y="1767840"/>
            <a:ext cx="4014186" cy="3923172"/>
          </a:xfrm>
        </p:spPr>
      </p:pic>
    </p:spTree>
    <p:extLst>
      <p:ext uri="{BB962C8B-B14F-4D97-AF65-F5344CB8AC3E}">
        <p14:creationId xmlns:p14="http://schemas.microsoft.com/office/powerpoint/2010/main" val="30010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1353-E2B9-DAD3-AED7-5732A714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- Layer Structure (Top View)</a:t>
            </a:r>
            <a:endParaRPr lang="en-US" dirty="0"/>
          </a:p>
        </p:txBody>
      </p:sp>
      <p:pic>
        <p:nvPicPr>
          <p:cNvPr id="6" name="Content Placeholder 5" descr="A diagram of a device structure&#10;&#10;Description automatically generated">
            <a:extLst>
              <a:ext uri="{FF2B5EF4-FFF2-40B4-BE49-F238E27FC236}">
                <a16:creationId xmlns:a16="http://schemas.microsoft.com/office/drawing/2014/main" id="{E45CAA24-F2BB-D524-0980-25455563CF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496" y="1727200"/>
            <a:ext cx="4561269" cy="4124325"/>
          </a:xfrm>
        </p:spPr>
      </p:pic>
      <p:pic>
        <p:nvPicPr>
          <p:cNvPr id="8" name="Content Placeholder 7" descr="A diagram of a device structure&#10;&#10;Description automatically generated">
            <a:extLst>
              <a:ext uri="{FF2B5EF4-FFF2-40B4-BE49-F238E27FC236}">
                <a16:creationId xmlns:a16="http://schemas.microsoft.com/office/drawing/2014/main" id="{23CCAFE6-B634-01D2-7DCC-C640B4269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62361" y="1727200"/>
            <a:ext cx="4738821" cy="4124325"/>
          </a:xfrm>
        </p:spPr>
      </p:pic>
    </p:spTree>
    <p:extLst>
      <p:ext uri="{BB962C8B-B14F-4D97-AF65-F5344CB8AC3E}">
        <p14:creationId xmlns:p14="http://schemas.microsoft.com/office/powerpoint/2010/main" val="347877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B2C2-345E-73DB-638C-41771BC1C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pPr algn="ctr"/>
            <a:r>
              <a:rPr lang="en-US" sz="4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Principle - Electrolysis Actuation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17C7F-20DD-BCB7-D946-0C041959F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432560"/>
            <a:ext cx="4754880" cy="470408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Current Applied (1.0 mA)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DC current flows through Pt/Ti interdigitated electrodes immersed in DI water</a:t>
            </a:r>
          </a:p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Water Electrolysis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2H₂O(l) → 2H₂(g) + O₂(g)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Hydrogen and oxygen gases generated at cathode and anode</a:t>
            </a:r>
          </a:p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Pressure Buildup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Gas accumulation increases pressure inside sealed bellows chamber</a:t>
            </a:r>
          </a:p>
          <a:p>
            <a:pPr marL="0" indent="0" algn="ctr">
              <a:lnSpc>
                <a:spcPct val="12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nRT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2618B-EEC6-3021-A1BA-47A9354AE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1432560"/>
            <a:ext cx="4754880" cy="470408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Bellows Expansion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Pressure forces Parylene bellows to expand vertically (4 mm → 8 mm)</a:t>
            </a:r>
          </a:p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Drug Expulsion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Bellows compression displaces drug from reservoir through check valve and catheter to tumor</a:t>
            </a:r>
          </a:p>
          <a:p>
            <a:pPr marL="0" indent="0" algn="l">
              <a:lnSpc>
                <a:spcPct val="12000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Gas Recombination (OFF)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current stops, H₂ and O₂ recombine back to water on Pt catalyst surface</a:t>
            </a:r>
          </a:p>
          <a:p>
            <a:pPr marL="0" indent="0" algn="ctr">
              <a:lnSpc>
                <a:spcPct val="12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2H₂(g) + O₂(g) → 2H₂O(l)</a:t>
            </a:r>
          </a:p>
          <a:p>
            <a:pPr algn="l">
              <a:lnSpc>
                <a:spcPct val="120000"/>
              </a:lnSpc>
              <a:spcBef>
                <a:spcPts val="1125"/>
              </a:spcBef>
              <a:spcAft>
                <a:spcPts val="9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Bellows relaxes, ready for next cycle</a:t>
            </a:r>
          </a:p>
        </p:txBody>
      </p:sp>
    </p:spTree>
    <p:extLst>
      <p:ext uri="{BB962C8B-B14F-4D97-AF65-F5344CB8AC3E}">
        <p14:creationId xmlns:p14="http://schemas.microsoft.com/office/powerpoint/2010/main" val="373674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2C1B-47AB-6EA3-EB9F-7C2ED555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– Simulation based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C4366-820C-F156-0887-1C86947AC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019040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Electrolysis Gas Generation Model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Faraday's Law of Electrolysis: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= (I × t) / (z × F)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 n = moles of gas, I = current (A), t = time (s), z = 2.67 electrons/molecule, F = 96,485 C/mol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Molar Generation Rate: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/dt = I / (z × F) = I / 257,615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Gas Volume and Pressure Model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Gas Law: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PV =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nRT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V =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nRT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 R = 8.314 J/(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mol·K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T = 310 K (body temp), P = 101,325 Pa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Volumetric Generation Rate: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dV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/dt = (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/dt × R × T) / P = 7.87 × 10⁻¹¹ m³/s = 4.72 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L/min at 1.0 mA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Flow Rate Model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Poiseuille's Equation for Catheter Flow: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 = (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r⁴ 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P) / (8 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L)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 r = catheter radius, 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pressure difference, </a:t>
            </a:r>
            <a:r>
              <a:rPr lang="el-GR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 = 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viscosity, L = catheter length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Simplified Model: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 =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P_net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R_hydro</a:t>
            </a:r>
            <a:endParaRPr lang="en-US" sz="1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P_net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Bellows pressure - Tissue backpressure and </a:t>
            </a:r>
            <a:r>
              <a:rPr lang="en-US" sz="1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R_hydro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Hydraulic resistance (catheter geometry dependent)</a:t>
            </a:r>
          </a:p>
          <a:p>
            <a:pPr>
              <a:lnSpc>
                <a:spcPct val="150000"/>
              </a:lnSpc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29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2456-9C65-E388-12EA-52456B45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F44C-DB41-E4B1-3FB3-AEBDEF76A0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ensemble with 100 decision trees trained on 50,000 synthetic physiological samples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3-sensor fusion combining hot-film voltage, RTD temperature, and thermal transient rate to predict true flow rate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achieves R² score about 0.98 indicating near-accurate prediction correlation where the naïve version gives nearly 0.88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improvement of 60–80% over traditional physics-only approach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F1F90F-4C8A-5AAF-3E7B-062BACC3D0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95252" y="1041782"/>
            <a:ext cx="4754880" cy="4809744"/>
          </a:xfrm>
        </p:spPr>
      </p:pic>
    </p:spTree>
    <p:extLst>
      <p:ext uri="{BB962C8B-B14F-4D97-AF65-F5344CB8AC3E}">
        <p14:creationId xmlns:p14="http://schemas.microsoft.com/office/powerpoint/2010/main" val="3367115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A592-AA98-1B5A-4C74-01BB52A34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514"/>
            <a:ext cx="10515600" cy="8235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Response Characterization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073A-A4F7-8D1E-1CD2-29E4BA22C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962" y="1260389"/>
            <a:ext cx="11294075" cy="5387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current ranges from 0.5–2.0 mA DC driving the electrolysis-based bellows pump for precise flow control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voltage maintained at 3–5 V enabling low-power implantable operation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ON/OFF control signal allows programmable dosing schedules and therapeutic protocols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reservoir capacity of 100–300 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provides sufficient volume for extended treatment periods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Refill schedule of every 2–4 weeks minimizes patient intervention while ensuring continuous therapy</a:t>
            </a:r>
          </a:p>
          <a:p>
            <a:pPr marL="0" indent="0">
              <a:buNone/>
            </a:pP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Performance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spans 1–34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μL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/min with direct current-dependent modulation for precise dosing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volume delivered is fully programmable based on therapeutic requirements and patient response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duration flexibly ranges from minutes to hours supporting both bolus and sustained release profiles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drug concentration achieves 10–100× higher levels at target site compared to systemic delivery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drug exposure reduced by approximately 90% minimizing off-target side effects and toxicity</a:t>
            </a:r>
          </a:p>
          <a:p>
            <a:pPr marL="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Advantage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precise input control and targeted output delivery enables personalized therapy with maximum efficacy and minimum systemic burden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552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5E92-CE52-720B-8527-55CDAE91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54" y="320867"/>
            <a:ext cx="10058400" cy="1371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plot visualizations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B59A-86FF-6400-112F-1B3A5C12F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00" y="1608850"/>
            <a:ext cx="5301048" cy="47507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Pressure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Bellows pressure starts at ~2.5 kPa and decreases rapidly during initial drug release phase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stabilizes around 1.3 kPa after t=40s as reservoir depletes and system reaches equilibrium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initial drop indicates active electrolysis-driven pumping responding to high glucose levels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Concentration (Middle Plot)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glucose begins at critical high level (~120 mM) simulating hyperglycemic condition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decay pattern shows effective glucose reduction through insulin delivery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Reaches stable baseline (~5-10 mM) by t=30-40s indicating successful glycemic control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Drug Delivery (Right Plot)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Steepest delivery rate occurs during first 30 seconds when glucose levels are highest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rate slows after t=40s as glucose normalizes and target flow rate decreases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Stepped pattern reflects closed-loop control adjusting delivery based on real-time glucose feedback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7F4DD9-405C-5FAB-A95C-0B9A06EDB7F2}"/>
              </a:ext>
            </a:extLst>
          </p:cNvPr>
          <p:cNvSpPr txBox="1">
            <a:spLocks/>
          </p:cNvSpPr>
          <p:nvPr/>
        </p:nvSpPr>
        <p:spPr>
          <a:xfrm>
            <a:off x="5865341" y="1736537"/>
            <a:ext cx="505391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0A2E6-AED5-847F-AB44-BB689E83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92467"/>
            <a:ext cx="2487827" cy="2451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811CC-25C2-C3EE-6B23-AD9D007C9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9" t="48" b="599"/>
          <a:stretch>
            <a:fillRect/>
          </a:stretch>
        </p:blipFill>
        <p:spPr>
          <a:xfrm>
            <a:off x="8855677" y="1696995"/>
            <a:ext cx="2845300" cy="2446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7ECA1B-DFBA-A8D6-F2A6-4B3791651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912" y="4305505"/>
            <a:ext cx="2775857" cy="22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84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34C1-F7DE-4AF3-70C8-0254EC2E8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595"/>
          </a:xfrm>
        </p:spPr>
        <p:txBody>
          <a:bodyPr>
            <a:noAutofit/>
          </a:bodyPr>
          <a:lstStyle/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 Plans - </a:t>
            </a:r>
            <a:r>
              <a:rPr lang="en-US" sz="39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Biocompatible Encapsulation</a:t>
            </a:r>
            <a:endParaRPr lang="en-US" sz="3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821AD-991D-0E47-0B76-F758BA6BD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4599277"/>
            <a:ext cx="4073139" cy="1428036"/>
          </a:xfrm>
        </p:spPr>
        <p:txBody>
          <a:bodyPr>
            <a:normAutofit fontScale="55000" lnSpcReduction="20000"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sz="2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Refill Port Design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Type: Self-sealing silicone septum (2-3 mm diameter)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Capability: &gt; 100 percutaneous refills with 25-30 G needle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Access: Transcutaneous through skin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Procedure: Outpatient, no anesthesia required, &lt; 5 minutes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A89757-4609-FB5C-B81F-A2971B011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356993"/>
            <a:ext cx="5157787" cy="2954417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Packaging Layer 1: Parylene C Conformal Coating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Thickness: 5-10 </a:t>
            </a:r>
            <a:r>
              <a:rPr lang="el-GR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deposited via CVD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Coverage: All electronics and connections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Moisture barrier (water absorption &lt; 0.1%)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 insulation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Pinhole-free conformal coating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USP Class VI biocompatible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Masking: Protect refill port and catheter outlet during deposition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6C7A9-BB75-C126-721F-5E59BB457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7603" y="1546463"/>
            <a:ext cx="5183188" cy="3634184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Packaging Layer 2: Silicone Rubber </a:t>
            </a:r>
            <a:r>
              <a:rPr lang="en-US" sz="1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Overmolding</a:t>
            </a:r>
            <a:endParaRPr lang="en-US" sz="1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 Medical-grade silicone (</a:t>
            </a:r>
            <a:r>
              <a:rPr lang="en-US" sz="12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NuSil</a:t>
            </a: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MED-6015 or equivalent)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12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overmold</a:t>
            </a: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rounded contours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Position device in mold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silicone, degas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 at 150°C for 1 hour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Demold and inspect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external surface (tissue compatibility)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Mechanically robust protection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refill port septum (self-sealing)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Wireless coil embedded in silicone</a:t>
            </a:r>
          </a:p>
        </p:txBody>
      </p:sp>
    </p:spTree>
    <p:extLst>
      <p:ext uri="{BB962C8B-B14F-4D97-AF65-F5344CB8AC3E}">
        <p14:creationId xmlns:p14="http://schemas.microsoft.com/office/powerpoint/2010/main" val="200396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B88B-2FC2-1174-AA9B-D451F1A5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Plans for Clinical 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6A12-064A-DE99-3C9C-CDDB4B4AF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8720"/>
            <a:ext cx="5181600" cy="5059680"/>
          </a:xfrm>
        </p:spPr>
        <p:txBody>
          <a:bodyPr>
            <a:no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Surgical Implantation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lang="en-US" sz="1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</a:p>
          <a:p>
            <a:pPr algn="l">
              <a:lnSpc>
                <a:spcPct val="160000"/>
              </a:lnSpc>
              <a:spcBef>
                <a:spcPts val="0"/>
              </a:spcBef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Minimally invasive surgery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or general anesthesia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Subcutaneous pocket creation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placement near tumor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Catheter insertion to tumor core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Image-guided positioning (CT/ultrasound)</a:t>
            </a:r>
          </a:p>
          <a:p>
            <a:pPr marL="0" indent="0" algn="l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Outpatient or overnight observation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Wound healing: 7-10 days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scarring (small incision)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to normal activity: 1-2 weeks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08290-6DDB-5417-1770-B39CBD48F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337944"/>
            <a:ext cx="5181600" cy="4910455"/>
          </a:xfrm>
        </p:spPr>
        <p:txBody>
          <a:bodyPr>
            <a:noAutofit/>
          </a:bodyPr>
          <a:lstStyle/>
          <a:p>
            <a:pPr marL="0" indent="0" algn="l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Drug Loading &amp; Programming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Drug Loading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 reservoir with siRNA-gold nanorod complexes (</a:t>
            </a:r>
            <a:r>
              <a:rPr lang="en-US" sz="13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nanoplexes</a:t>
            </a: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or chemotherapy drug</a:t>
            </a:r>
          </a:p>
          <a:p>
            <a:pPr algn="l">
              <a:lnSpc>
                <a:spcPct val="170000"/>
              </a:lnSpc>
              <a:spcBef>
                <a:spcPts val="0"/>
              </a:spcBef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Volume: 200 </a:t>
            </a:r>
            <a:r>
              <a:rPr lang="el-GR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 typical initial dose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Concentration: Optimized for application</a:t>
            </a:r>
            <a:endParaRPr lang="en-US" sz="13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3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Dosing Schedule Programming</a:t>
            </a:r>
          </a:p>
          <a:p>
            <a:pPr marL="0" indent="0" algn="l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Via wireless interface: Computer or smartphone app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 rate: Set target current (0.5-2.0 mA)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duration: Minutes to hours per session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 duration: Rest periods between doses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Daily schedule: Programmable start times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delivery volume: Track cumulative dose</a:t>
            </a:r>
          </a:p>
        </p:txBody>
      </p:sp>
    </p:spTree>
    <p:extLst>
      <p:ext uri="{BB962C8B-B14F-4D97-AF65-F5344CB8AC3E}">
        <p14:creationId xmlns:p14="http://schemas.microsoft.com/office/powerpoint/2010/main" val="1420950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2F36-0DF5-EB68-0D8E-911E40940E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7221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23</TotalTime>
  <Words>1827</Words>
  <Application>Microsoft Office PowerPoint</Application>
  <PresentationFormat>Widescreen</PresentationFormat>
  <Paragraphs>248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Century Gothic</vt:lpstr>
      <vt:lpstr>Garamond</vt:lpstr>
      <vt:lpstr>Times New Roman</vt:lpstr>
      <vt:lpstr>Savon</vt:lpstr>
      <vt:lpstr>EECE 7244 Microelectromechanical Systems   AI-Enhanced MEMS Drug Delivery Catheter</vt:lpstr>
      <vt:lpstr>Current Challenges in Cancer Treatment</vt:lpstr>
      <vt:lpstr>Device Architecture &amp; Components</vt:lpstr>
      <vt:lpstr>Fabrication Process (Electrode Base)</vt:lpstr>
      <vt:lpstr>Fabrication Process - Parylene Bellows</vt:lpstr>
      <vt:lpstr>Assembly</vt:lpstr>
      <vt:lpstr>Device - Layer Structure (Cross-Section View)</vt:lpstr>
      <vt:lpstr>Device - Layer Structure (Front View)</vt:lpstr>
      <vt:lpstr>Device - Layer Structure (Top View)</vt:lpstr>
      <vt:lpstr>Operating Principle - Electrolysis Actuation</vt:lpstr>
      <vt:lpstr>Modeling – Simulation based</vt:lpstr>
      <vt:lpstr>Model used </vt:lpstr>
      <vt:lpstr>Input/Output Response Characterization</vt:lpstr>
      <vt:lpstr>Output plot visualizations </vt:lpstr>
      <vt:lpstr>Packaging Plans - Biocompatible Encapsulation</vt:lpstr>
      <vt:lpstr>Plans for Clinical Use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 Chandi</dc:creator>
  <cp:lastModifiedBy>sathwik merla</cp:lastModifiedBy>
  <cp:revision>2</cp:revision>
  <dcterms:created xsi:type="dcterms:W3CDTF">2025-12-10T02:43:03Z</dcterms:created>
  <dcterms:modified xsi:type="dcterms:W3CDTF">2025-12-10T05:04:11Z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2025-12-10T04:38:31Z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d82856de-2aa7-475e-9a13-b8eaa95876b8</vt:lpwstr>
  </property>
  <property fmtid="{D5CDD505-2E9C-101B-9397-08002B2CF9AE}" pid="7" name="MSIP_Label_defa4170-0d19-0005-0004-bc88714345d2_ActionId">
    <vt:lpwstr>2d309f5d-bffb-4da3-85ce-47a9ffdcb743</vt:lpwstr>
  </property>
  <property fmtid="{D5CDD505-2E9C-101B-9397-08002B2CF9AE}" pid="8" name="MSIP_Label_defa4170-0d19-0005-0004-bc88714345d2_ContentBits">
    <vt:lpwstr>0</vt:lpwstr>
  </property>
</Properties>
</file>